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et Bold" charset="1" panose="00000000000000000000"/>
      <p:regular r:id="rId12"/>
    </p:embeddedFont>
    <p:embeddedFont>
      <p:font typeface="Garet" charset="1" panose="00000000000000000000"/>
      <p:regular r:id="rId13"/>
    </p:embeddedFont>
    <p:embeddedFont>
      <p:font typeface="Source Sans Pro Bold" charset="1" panose="020B0703030403020204"/>
      <p:regular r:id="rId17"/>
    </p:embeddedFont>
    <p:embeddedFont>
      <p:font typeface="Source Sans Pro" charset="1" panose="020B0503030403020204"/>
      <p:regular r:id="rId18"/>
    </p:embeddedFont>
    <p:embeddedFont>
      <p:font typeface="Dynamo Medium" charset="1" panose="020B060402020A0804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often deal with long and complex documents — research papers, contracts, reports — and reading through them is not just time-consuming, but also mentally draining.”</a:t>
            </a:r>
          </a:p>
          <a:p>
            <a:r>
              <a:rPr lang="en-US"/>
              <a:t/>
            </a:r>
          </a:p>
          <a:p>
            <a:r>
              <a:rPr lang="en-US"/>
              <a:t>“And when we're tired or rushing, it's easy to make mistakes — miss key points, misunderstand details, or draw inaccurate conclusions.”</a:t>
            </a:r>
          </a:p>
          <a:p>
            <a:r>
              <a:rPr lang="en-US"/>
              <a:t/>
            </a:r>
          </a:p>
          <a:p>
            <a:r>
              <a:rPr lang="en-US"/>
              <a:t>“In many cases — like legal or academic work — even a small oversight can lead to big consequences. So, we need a system that gives reliable, accurate answers directly from the source material.”</a:t>
            </a:r>
          </a:p>
          <a:p>
            <a:r>
              <a:rPr lang="en-US"/>
              <a:t/>
            </a:r>
          </a:p>
          <a:p>
            <a:r>
              <a:rPr lang="en-US"/>
              <a:t>“That’s where my solution comes in — a personalized Document QnA system.”</a:t>
            </a:r>
          </a:p>
          <a:p>
            <a:r>
              <a:rPr lang="en-US"/>
              <a:t/>
            </a:r>
          </a:p>
          <a:p>
            <a:r>
              <a:rPr lang="en-US"/>
              <a:t>“Unlike traditional tools that only support one format, this system can handle a variety of document types like PDFs, Word files, Excel sheets, and even PowerPoint slides.”</a:t>
            </a:r>
          </a:p>
          <a:p>
            <a:r>
              <a:rPr lang="en-US"/>
              <a:t/>
            </a:r>
          </a:p>
          <a:p>
            <a:r>
              <a:rPr lang="en-US"/>
              <a:t>“This approach drastically cuts down the time and energy spent searching for information.”</a:t>
            </a:r>
          </a:p>
          <a:p>
            <a:r>
              <a:rPr lang="en-US"/>
              <a:t/>
            </a:r>
          </a:p>
          <a:p>
            <a:r>
              <a:rPr lang="en-US"/>
              <a:t>“In short — we’re letting AI do the heavy lifting, so users can focus on decision-making rather than document scanning.”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often deal with long and complex documents — research papers, contracts, reports — and reading through them is not just time-consuming, but also mentally draining.”</a:t>
            </a:r>
          </a:p>
          <a:p>
            <a:r>
              <a:rPr lang="en-US"/>
              <a:t/>
            </a:r>
          </a:p>
          <a:p>
            <a:r>
              <a:rPr lang="en-US"/>
              <a:t>“And when we're tired or rushing, it's easy to make mistakes — miss key points, misunderstand details, or draw inaccurate conclusions.”</a:t>
            </a:r>
          </a:p>
          <a:p>
            <a:r>
              <a:rPr lang="en-US"/>
              <a:t/>
            </a:r>
          </a:p>
          <a:p>
            <a:r>
              <a:rPr lang="en-US"/>
              <a:t>“In many cases — like legal or academic work — even a small oversight can lead to big consequences. So, we need a system that gives reliable, accurate answers directly from the source material.”</a:t>
            </a:r>
          </a:p>
          <a:p>
            <a:r>
              <a:rPr lang="en-US"/>
              <a:t/>
            </a:r>
          </a:p>
          <a:p>
            <a:r>
              <a:rPr lang="en-US"/>
              <a:t>“That’s where my solution comes in — a personalized Document QnA system.”</a:t>
            </a:r>
          </a:p>
          <a:p>
            <a:r>
              <a:rPr lang="en-US"/>
              <a:t/>
            </a:r>
          </a:p>
          <a:p>
            <a:r>
              <a:rPr lang="en-US"/>
              <a:t>“Unlike traditional tools that only support one format, this system can handle a variety of document types like PDFs, Word files, Excel sheets, and even PowerPoint slides.”</a:t>
            </a:r>
          </a:p>
          <a:p>
            <a:r>
              <a:rPr lang="en-US"/>
              <a:t/>
            </a:r>
          </a:p>
          <a:p>
            <a:r>
              <a:rPr lang="en-US"/>
              <a:t>“This approach drastically cuts down the time and energy spent searching for information.”</a:t>
            </a:r>
          </a:p>
          <a:p>
            <a:r>
              <a:rPr lang="en-US"/>
              <a:t/>
            </a:r>
          </a:p>
          <a:p>
            <a:r>
              <a:rPr lang="en-US"/>
              <a:t>“In short — we’re letting AI do the heavy lifting, so users can focus on decision-making rather than document scanning.”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often deal with long and complex documents — research papers, contracts, reports — and reading through them is not just time-consuming, but also mentally draining.”</a:t>
            </a:r>
          </a:p>
          <a:p>
            <a:r>
              <a:rPr lang="en-US"/>
              <a:t/>
            </a:r>
          </a:p>
          <a:p>
            <a:r>
              <a:rPr lang="en-US"/>
              <a:t>“And when we're tired or rushing, it's easy to make mistakes — miss key points, misunderstand details, or draw inaccurate conclusions.”</a:t>
            </a:r>
          </a:p>
          <a:p>
            <a:r>
              <a:rPr lang="en-US"/>
              <a:t/>
            </a:r>
          </a:p>
          <a:p>
            <a:r>
              <a:rPr lang="en-US"/>
              <a:t>“In many cases — like legal or academic work — even a small oversight can lead to big consequences. So, we need a system that gives reliable, accurate answers directly from the source material.”</a:t>
            </a:r>
          </a:p>
          <a:p>
            <a:r>
              <a:rPr lang="en-US"/>
              <a:t/>
            </a:r>
          </a:p>
          <a:p>
            <a:r>
              <a:rPr lang="en-US"/>
              <a:t>“That’s where my solution comes in — a personalized Document QnA system.”</a:t>
            </a:r>
          </a:p>
          <a:p>
            <a:r>
              <a:rPr lang="en-US"/>
              <a:t/>
            </a:r>
          </a:p>
          <a:p>
            <a:r>
              <a:rPr lang="en-US"/>
              <a:t>“Unlike traditional tools that only support one format, this system can handle a variety of document types like PDFs, Word files, Excel sheets, and even PowerPoint slides.”</a:t>
            </a:r>
          </a:p>
          <a:p>
            <a:r>
              <a:rPr lang="en-US"/>
              <a:t/>
            </a:r>
          </a:p>
          <a:p>
            <a:r>
              <a:rPr lang="en-US"/>
              <a:t>“This approach drastically cuts down the time and energy spent searching for information.”</a:t>
            </a:r>
          </a:p>
          <a:p>
            <a:r>
              <a:rPr lang="en-US"/>
              <a:t/>
            </a:r>
          </a:p>
          <a:p>
            <a:r>
              <a:rPr lang="en-US"/>
              <a:t>“In short — we’re letting AI do the heavy lifting, so users can focus on decision-making rather than document scanning.”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often deal with long and complex documents — research papers, contracts, reports — and reading through them is not just time-consuming, but also mentally draining.”</a:t>
            </a:r>
          </a:p>
          <a:p>
            <a:r>
              <a:rPr lang="en-US"/>
              <a:t/>
            </a:r>
          </a:p>
          <a:p>
            <a:r>
              <a:rPr lang="en-US"/>
              <a:t>“And when we're tired or rushing, it's easy to make mistakes — miss key points, misunderstand details, or draw inaccurate conclusions.”</a:t>
            </a:r>
          </a:p>
          <a:p>
            <a:r>
              <a:rPr lang="en-US"/>
              <a:t/>
            </a:r>
          </a:p>
          <a:p>
            <a:r>
              <a:rPr lang="en-US"/>
              <a:t>“In many cases — like legal or academic work — even a small oversight can lead to big consequences. So, we need a system that gives reliable, accurate answers directly from the source material.”</a:t>
            </a:r>
          </a:p>
          <a:p>
            <a:r>
              <a:rPr lang="en-US"/>
              <a:t/>
            </a:r>
          </a:p>
          <a:p>
            <a:r>
              <a:rPr lang="en-US"/>
              <a:t>“That’s where my solution comes in — a personalized Document QnA system.”</a:t>
            </a:r>
          </a:p>
          <a:p>
            <a:r>
              <a:rPr lang="en-US"/>
              <a:t/>
            </a:r>
          </a:p>
          <a:p>
            <a:r>
              <a:rPr lang="en-US"/>
              <a:t>“Unlike traditional tools that only support one format, this system can handle a variety of document types like PDFs, Word files, Excel sheets, and even PowerPoint slides.”</a:t>
            </a:r>
          </a:p>
          <a:p>
            <a:r>
              <a:rPr lang="en-US"/>
              <a:t/>
            </a:r>
          </a:p>
          <a:p>
            <a:r>
              <a:rPr lang="en-US"/>
              <a:t>“This approach drastically cuts down the time and energy spent searching for information.”</a:t>
            </a:r>
          </a:p>
          <a:p>
            <a:r>
              <a:rPr lang="en-US"/>
              <a:t/>
            </a:r>
          </a:p>
          <a:p>
            <a:r>
              <a:rPr lang="en-US"/>
              <a:t>“In short — we’re letting AI do the heavy lifting, so users can focus on decision-making rather than document scanning.”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often deal with long and complex documents — research papers, contracts, reports — and reading through them is not just time-consuming, but also mentally draining.”</a:t>
            </a:r>
          </a:p>
          <a:p>
            <a:r>
              <a:rPr lang="en-US"/>
              <a:t/>
            </a:r>
          </a:p>
          <a:p>
            <a:r>
              <a:rPr lang="en-US"/>
              <a:t>“And when we're tired or rushing, it's easy to make mistakes — miss key points, misunderstand details, or draw inaccurate conclusions.”</a:t>
            </a:r>
          </a:p>
          <a:p>
            <a:r>
              <a:rPr lang="en-US"/>
              <a:t/>
            </a:r>
          </a:p>
          <a:p>
            <a:r>
              <a:rPr lang="en-US"/>
              <a:t>“In many cases — like legal or academic work — even a small oversight can lead to big consequences. So, we need a system that gives reliable, accurate answers directly from the source material.”</a:t>
            </a:r>
          </a:p>
          <a:p>
            <a:r>
              <a:rPr lang="en-US"/>
              <a:t/>
            </a:r>
          </a:p>
          <a:p>
            <a:r>
              <a:rPr lang="en-US"/>
              <a:t>“That’s where my solution comes in — a personalized Document QnA system.”</a:t>
            </a:r>
          </a:p>
          <a:p>
            <a:r>
              <a:rPr lang="en-US"/>
              <a:t/>
            </a:r>
          </a:p>
          <a:p>
            <a:r>
              <a:rPr lang="en-US"/>
              <a:t>“Unlike traditional tools that only support one format, this system can handle a variety of document types like PDFs, Word files, Excel sheets, and even PowerPoint slides.”</a:t>
            </a:r>
          </a:p>
          <a:p>
            <a:r>
              <a:rPr lang="en-US"/>
              <a:t/>
            </a:r>
          </a:p>
          <a:p>
            <a:r>
              <a:rPr lang="en-US"/>
              <a:t>“This approach drastically cuts down the time and energy spent searching for information.”</a:t>
            </a:r>
          </a:p>
          <a:p>
            <a:r>
              <a:rPr lang="en-US"/>
              <a:t/>
            </a:r>
          </a:p>
          <a:p>
            <a:r>
              <a:rPr lang="en-US"/>
              <a:t>“In short — we’re letting AI do the heavy lifting, so users can focus on decision-making rather than document scanning.”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83150" y="7109187"/>
            <a:ext cx="704850" cy="3177813"/>
            <a:chOff x="0" y="0"/>
            <a:chExt cx="556919" cy="2510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6919" cy="2510865"/>
            </a:xfrm>
            <a:custGeom>
              <a:avLst/>
              <a:gdLst/>
              <a:ahLst/>
              <a:cxnLst/>
              <a:rect r="r" b="b" t="t" l="l"/>
              <a:pathLst>
                <a:path h="2510865" w="556919">
                  <a:moveTo>
                    <a:pt x="0" y="0"/>
                  </a:moveTo>
                  <a:lnTo>
                    <a:pt x="556919" y="0"/>
                  </a:lnTo>
                  <a:lnTo>
                    <a:pt x="556919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6919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878" y="6270987"/>
            <a:ext cx="9621123" cy="4016013"/>
            <a:chOff x="0" y="0"/>
            <a:chExt cx="7601875" cy="3173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01876" cy="3173146"/>
            </a:xfrm>
            <a:custGeom>
              <a:avLst/>
              <a:gdLst/>
              <a:ahLst/>
              <a:cxnLst/>
              <a:rect r="r" b="b" t="t" l="l"/>
              <a:pathLst>
                <a:path h="3173146" w="7601876">
                  <a:moveTo>
                    <a:pt x="0" y="0"/>
                  </a:moveTo>
                  <a:lnTo>
                    <a:pt x="7601876" y="0"/>
                  </a:lnTo>
                  <a:lnTo>
                    <a:pt x="7601876" y="3173146"/>
                  </a:lnTo>
                  <a:lnTo>
                    <a:pt x="0" y="3173146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01875" cy="3211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303887" y="0"/>
            <a:ext cx="984113" cy="1028700"/>
            <a:chOff x="0" y="0"/>
            <a:chExt cx="77757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7570" cy="812800"/>
            </a:xfrm>
            <a:custGeom>
              <a:avLst/>
              <a:gdLst/>
              <a:ahLst/>
              <a:cxnLst/>
              <a:rect r="r" b="b" t="t" l="l"/>
              <a:pathLst>
                <a:path h="812800" w="777570">
                  <a:moveTo>
                    <a:pt x="0" y="0"/>
                  </a:moveTo>
                  <a:lnTo>
                    <a:pt x="777570" y="0"/>
                  </a:lnTo>
                  <a:lnTo>
                    <a:pt x="77757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7757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09914" y="0"/>
            <a:ext cx="1313792" cy="10287000"/>
            <a:chOff x="0" y="0"/>
            <a:chExt cx="346019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6019" cy="2709333"/>
            </a:xfrm>
            <a:custGeom>
              <a:avLst/>
              <a:gdLst/>
              <a:ahLst/>
              <a:cxnLst/>
              <a:rect r="r" b="b" t="t" l="l"/>
              <a:pathLst>
                <a:path h="2709333" w="346019">
                  <a:moveTo>
                    <a:pt x="173010" y="0"/>
                  </a:moveTo>
                  <a:lnTo>
                    <a:pt x="173010" y="0"/>
                  </a:lnTo>
                  <a:cubicBezTo>
                    <a:pt x="268560" y="0"/>
                    <a:pt x="346019" y="77459"/>
                    <a:pt x="346019" y="173010"/>
                  </a:cubicBezTo>
                  <a:lnTo>
                    <a:pt x="346019" y="2536323"/>
                  </a:lnTo>
                  <a:cubicBezTo>
                    <a:pt x="346019" y="2631874"/>
                    <a:pt x="268560" y="2709333"/>
                    <a:pt x="173010" y="2709333"/>
                  </a:cubicBezTo>
                  <a:lnTo>
                    <a:pt x="173010" y="2709333"/>
                  </a:lnTo>
                  <a:cubicBezTo>
                    <a:pt x="77459" y="2709333"/>
                    <a:pt x="0" y="2631874"/>
                    <a:pt x="0" y="2536323"/>
                  </a:cubicBezTo>
                  <a:lnTo>
                    <a:pt x="0" y="173010"/>
                  </a:lnTo>
                  <a:cubicBezTo>
                    <a:pt x="0" y="77459"/>
                    <a:pt x="77459" y="0"/>
                    <a:pt x="17301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601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94242" y="7741112"/>
            <a:ext cx="2545888" cy="254588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325001" y="7674437"/>
            <a:ext cx="9098657" cy="230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              Presented By</a:t>
            </a:r>
          </a:p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         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Ravi Teja Vavilapalli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ravitejavavilapalli21@gmail.com</a:t>
            </a:r>
          </a:p>
          <a:p>
            <a:pPr algn="l">
              <a:lnSpc>
                <a:spcPts val="461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20961" y="542925"/>
            <a:ext cx="16038339" cy="221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</a:pPr>
            <a:r>
              <a:rPr lang="en-US" sz="506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AGENTIC RAG CHATBOT FOR MULTI-FORMAT DOCUMENT QA USING MODEL CONTEXT PROTOCOL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5549" y="3383007"/>
            <a:ext cx="16038339" cy="288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multi-agent intelligent chatbot that answers questions from uploaded PDFs, DOCX, PPTX, CSV, and TXT files using </a:t>
            </a:r>
            <a:r>
              <a:rPr lang="en-US" sz="3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Docling 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parsing, </a:t>
            </a:r>
            <a:r>
              <a:rPr lang="en-US" sz="3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FAISS 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semantic search, and </a:t>
            </a:r>
            <a:r>
              <a:rPr lang="en-US" sz="3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LLMs 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response generation. Powered by </a:t>
            </a:r>
            <a:r>
              <a:rPr lang="en-US" sz="3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Context Protocol (MCP)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for agent communication and built with a user-friendly Streamlit interface.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312" y="733752"/>
            <a:ext cx="17134452" cy="1017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3927" spc="15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Overview:</a:t>
            </a:r>
          </a:p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chatbot system is designed using a modular agent-based architecture where         each agent performs a specific role. These agents communicate using Model Context Protocol (MCP) — a structured message format enabling seamless coordination.</a:t>
            </a:r>
          </a:p>
          <a:p>
            <a:pPr algn="l">
              <a:lnSpc>
                <a:spcPts val="5499"/>
              </a:lnSpc>
            </a:pPr>
            <a:r>
              <a:rPr lang="en-US" sz="3927" spc="15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Key Components:</a:t>
            </a:r>
          </a:p>
          <a:p>
            <a:pPr algn="l" marL="848035" indent="-424018" lvl="1">
              <a:lnSpc>
                <a:spcPts val="5499"/>
              </a:lnSpc>
              <a:buFont typeface="Arial"/>
              <a:buChar char="•"/>
            </a:pPr>
            <a:r>
              <a:rPr lang="en-US" b="true" sz="3927" spc="15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IngestionAgent: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Parses and structures content from documents (PDF, DOCX, PPTX, etc.) using Docling.</a:t>
            </a:r>
          </a:p>
          <a:p>
            <a:pPr algn="l" marL="848035" indent="-424018" lvl="1">
              <a:lnSpc>
                <a:spcPts val="5499"/>
              </a:lnSpc>
              <a:buFont typeface="Arial"/>
              <a:buChar char="•"/>
            </a:pPr>
            <a:r>
              <a:rPr lang="en-US" b="true" sz="3927" spc="15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RetrievalAgent: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Uses SentenceTransformers to embed chunks and FAISS to retrieve the relevant ones.</a:t>
            </a:r>
          </a:p>
          <a:p>
            <a:pPr algn="l" marL="848035" indent="-424018" lvl="1">
              <a:lnSpc>
                <a:spcPts val="5499"/>
              </a:lnSpc>
              <a:buFont typeface="Arial"/>
              <a:buChar char="•"/>
            </a:pPr>
            <a:r>
              <a:rPr lang="en-US" b="true" sz="3927" spc="15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LLMResponseAgent: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Takes the question and context to generate an answer using an LLM like LLaMA.</a:t>
            </a:r>
          </a:p>
          <a:p>
            <a:pPr algn="l" marL="848035" indent="-424018" lvl="1">
              <a:lnSpc>
                <a:spcPts val="5499"/>
              </a:lnSpc>
              <a:buFont typeface="Arial"/>
              <a:buChar char="•"/>
            </a:pPr>
            <a:r>
              <a:rPr lang="en-US" b="true" sz="3927" spc="15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MCP Host/Client:</a:t>
            </a:r>
          </a:p>
          <a:p>
            <a:pPr algn="l">
              <a:lnSpc>
                <a:spcPts val="5499"/>
              </a:lnSpc>
            </a:pPr>
            <a:r>
              <a:rPr lang="en-US" sz="3927" spc="15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Orchestrates the message flow between agents using MCP messages (sender, receiver, type, payload, trace_id) to maintain traceable communication.</a:t>
            </a:r>
          </a:p>
          <a:p>
            <a:pPr algn="l">
              <a:lnSpc>
                <a:spcPts val="54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98283" y="-218748"/>
            <a:ext cx="1731851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56AAF0"/>
                </a:solidFill>
                <a:latin typeface="Dynamo Medium"/>
                <a:ea typeface="Dynamo Medium"/>
                <a:cs typeface="Dynamo Medium"/>
                <a:sym typeface="Dynamo Medium"/>
              </a:rPr>
              <a:t>AGENT-BASED ARCHITECTURE WITH MCP INTEGRATION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848" y="536555"/>
            <a:ext cx="17134452" cy="1053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 diagram illustrates the end-to-end flow of user input through RAG  using MCP.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User Input via Streamlit UI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Users upload documents and provide  their que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ry through Streamlit.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2.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MCP: Query+Docs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query and documents are passed through the MCP pipeline.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3.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IngestionAgent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Documents are parsed into structured content using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docling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..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4.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MCP: structured content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Parsed chunks are passed to the next agent for retrieval.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5.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RetrievalAgent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Retrieve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 relevant content using FAISS after embedding the chunks.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6.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MCP: top-k context and LLMResponseAgent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Retrieved context is forwarded to the LLM which generates the response.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7.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MCP: Final response</a:t>
            </a:r>
          </a:p>
          <a:p>
            <a:pPr algn="l">
              <a:lnSpc>
                <a:spcPts val="5219"/>
              </a:lnSpc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final answer is passed back through MCP and displayed in the UI.</a:t>
            </a:r>
          </a:p>
          <a:p>
            <a:pPr algn="l">
              <a:lnSpc>
                <a:spcPts val="54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791288" y="1434566"/>
            <a:ext cx="3496712" cy="8852434"/>
          </a:xfrm>
          <a:custGeom>
            <a:avLst/>
            <a:gdLst/>
            <a:ahLst/>
            <a:cxnLst/>
            <a:rect r="r" b="b" t="t" l="l"/>
            <a:pathLst>
              <a:path h="8852434" w="3496712">
                <a:moveTo>
                  <a:pt x="0" y="0"/>
                </a:moveTo>
                <a:lnTo>
                  <a:pt x="3496712" y="0"/>
                </a:lnTo>
                <a:lnTo>
                  <a:pt x="3496712" y="8852434"/>
                </a:lnTo>
                <a:lnTo>
                  <a:pt x="0" y="885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283" y="-218748"/>
            <a:ext cx="18089717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0"/>
              </a:lnSpc>
            </a:pPr>
            <a:r>
              <a:rPr lang="en-US" sz="5800" b="true">
                <a:solidFill>
                  <a:srgbClr val="56AAF0"/>
                </a:solidFill>
                <a:latin typeface="Dynamo Medium"/>
                <a:ea typeface="Dynamo Medium"/>
                <a:cs typeface="Dynamo Medium"/>
                <a:sym typeface="Dynamo Medium"/>
              </a:rPr>
              <a:t>SYSTEM ARCHITECTURE: AGENTIC RAG VIA MCP PROTOCOL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6774" y="1104339"/>
            <a:ext cx="17134452" cy="918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Frontend: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Str</a:t>
            </a: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eamlit -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For building the interactive UI and capturing user inputs.</a:t>
            </a:r>
          </a:p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MCP Protocol: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Model Context Protocol (MCP) – 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Manages message passing between agents.</a:t>
            </a:r>
          </a:p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Document Processing: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Docling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– For parsing and structuring input documents.</a:t>
            </a:r>
          </a:p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Retrieval: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FAISS – 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Fast similarity search for retrieving top-k relevant document chunks.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Sentence Transformers 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– For embedding chunks (e.g., all-MiniLM-L6-v2).</a:t>
            </a:r>
          </a:p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LLM Inference: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LL</a:t>
            </a: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aMA (Groq API) 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– Used for fast, low-latency inference via Groq’s LPU backend.</a:t>
            </a:r>
          </a:p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Backend Logic: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Python – 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Core language for all components and orchestration.</a:t>
            </a:r>
          </a:p>
          <a:p>
            <a:pPr algn="l">
              <a:lnSpc>
                <a:spcPts val="52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095350" y="-114300"/>
            <a:ext cx="1731851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56AAF0"/>
                </a:solidFill>
                <a:latin typeface="Dynamo Medium"/>
                <a:ea typeface="Dynamo Medium"/>
                <a:cs typeface="Dynamo Medium"/>
                <a:sym typeface="Dynamo Medium"/>
              </a:rPr>
              <a:t>TECH STACK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400" y="1301643"/>
            <a:ext cx="8640600" cy="5843206"/>
          </a:xfrm>
          <a:custGeom>
            <a:avLst/>
            <a:gdLst/>
            <a:ahLst/>
            <a:cxnLst/>
            <a:rect r="r" b="b" t="t" l="l"/>
            <a:pathLst>
              <a:path h="5843206" w="8640600">
                <a:moveTo>
                  <a:pt x="0" y="0"/>
                </a:moveTo>
                <a:lnTo>
                  <a:pt x="8640600" y="0"/>
                </a:lnTo>
                <a:lnTo>
                  <a:pt x="8640600" y="5843206"/>
                </a:lnTo>
                <a:lnTo>
                  <a:pt x="0" y="5843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96848" y="4223246"/>
            <a:ext cx="9042326" cy="5775786"/>
          </a:xfrm>
          <a:custGeom>
            <a:avLst/>
            <a:gdLst/>
            <a:ahLst/>
            <a:cxnLst/>
            <a:rect r="r" b="b" t="t" l="l"/>
            <a:pathLst>
              <a:path h="5775786" w="9042326">
                <a:moveTo>
                  <a:pt x="0" y="0"/>
                </a:moveTo>
                <a:lnTo>
                  <a:pt x="9042326" y="0"/>
                </a:lnTo>
                <a:lnTo>
                  <a:pt x="9042326" y="5775785"/>
                </a:lnTo>
                <a:lnTo>
                  <a:pt x="0" y="5775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48310" y="0"/>
            <a:ext cx="1731851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56AAF0"/>
                </a:solidFill>
                <a:latin typeface="Dynamo Medium"/>
                <a:ea typeface="Dynamo Medium"/>
                <a:cs typeface="Dynamo Medium"/>
                <a:sym typeface="Dynamo Medium"/>
              </a:rPr>
              <a:t>UI SCREENSHOTS OF WORKING APP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1909" y="1367269"/>
            <a:ext cx="17134452" cy="852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Challenges Faced: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Parsing complex multi-format 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documents (PDFs, DOCX, PPTX, CSV) using </a:t>
            </a: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docling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Ensuring smooth integration and response generation using </a:t>
            </a: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Groq API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Designing a reliable and traceable message flow between agents via MCP.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Managing multiple Python dependencies and library compatibility (</a:t>
            </a: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FAISS, SentenceTransformers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b="true" sz="3727" spc="1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Streamlit 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etc.).</a:t>
            </a:r>
          </a:p>
          <a:p>
            <a:pPr algn="l">
              <a:lnSpc>
                <a:spcPts val="5219"/>
              </a:lnSpc>
            </a:pPr>
            <a:r>
              <a:rPr lang="en-US" sz="3727" spc="14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Future Improvements: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Fine-tuned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LLM integration for domain-specific document understanding.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Add vision-based d</a:t>
            </a: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ocument understanding to extract data from charts/images.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Enable multi-turn conversations for better context retention.</a:t>
            </a:r>
          </a:p>
          <a:p>
            <a:pPr algn="l" marL="804856" indent="-402428" lvl="1">
              <a:lnSpc>
                <a:spcPts val="5219"/>
              </a:lnSpc>
              <a:buFont typeface="Arial"/>
              <a:buChar char="•"/>
            </a:pPr>
            <a:r>
              <a:rPr lang="en-US" sz="3727" spc="14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Implement persistent document indexing using Qdrant or Chroma for long-term memory.</a:t>
            </a:r>
          </a:p>
          <a:p>
            <a:pPr algn="l">
              <a:lnSpc>
                <a:spcPts val="52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7044" y="9525"/>
            <a:ext cx="17504182" cy="84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 b="true">
                <a:solidFill>
                  <a:srgbClr val="56AAF0"/>
                </a:solidFill>
                <a:latin typeface="Dynamo Medium"/>
                <a:ea typeface="Dynamo Medium"/>
                <a:cs typeface="Dynamo Medium"/>
                <a:sym typeface="Dynamo Medium"/>
              </a:rPr>
              <a:t>CHALLENGES FACED WHILE DOING THE PROJECT &amp;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DAGt4WyvNKU</dc:identifier>
  <dcterms:modified xsi:type="dcterms:W3CDTF">2011-08-01T06:04:30Z</dcterms:modified>
  <cp:revision>1</cp:revision>
  <dc:title>RAG Chatbot PPT</dc:title>
</cp:coreProperties>
</file>